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960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Olá! Este é um robô seguidor de linha. A diferença é que ele não foi programado com todas as regras: ele aprendeu sozinho a seguir a linha.
A pergunta que guia o projeto é simples: como uma máquina aprende? Em sete minutos, eu vou mostrar o caminho. E o robô está aqui do lado, então no final vocês podem vê-lo rodando.
AÇÃO
Aponte para o robô na mesa. Deixe a pista visível, mas ainda sem ligar o robô.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 gente, seguir uma linha é quase automático. Olhamos, corrigimos o corpo e seguimos. Para uma máquina, cada instante é uma decisão.
Ele tem três sensores embaixo, dois motores e um Arduino. Dez vezes por segundo, ele precisa responder: para onde eu vou agora? Esquerda, reto ou direita? E ele não vê a linha: só sabe se cada sensor está no branco ou no preto.
AÇÃO
Aponte para os três sensores e para as rodas. Mostre o robô parado sobre a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Existem</a:t>
            </a:r>
            <a:r>
              <a:rPr lang="en-US" dirty="0"/>
              <a:t> dois jeitos de resolver isso. No primeiro, o programador escreve todas as regras: se o sensor da esquerda vê preto e o da direita não, vire à esquerda. Funciona muito bem... até a pista mudar.
No segundo, o robô testa, recebe uma nota e ajusta o próprio comportamento. É aprendizado por reforço. O primeiro repete; o segundo se adapta. É esse segundo que a gente vai destrinchar.
AÇÃO
Gesto para a coluna da esquerda e depois para a da direita.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professor do robô não é uma pessoa: é a recompensa. Depois de cada ação, ele recebe uma nota. Se o sensor central está na linha, ganha +1. Se um sensor lateral está ativo, perde 0,5. Se perdeu a linha completamente, perde 3.
As notas se somam. É como treinar um cachorro com petiscos — só que o petisco aqui é um número. Ele não sabe o que é “certo”; ele aprende o que dá nota melhor.
AÇÃO
Aponte para os três números. Se houver visitantes, pergunte: “qual dessas notas vocês querem ganhar?”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decidir, ele precisa resumir o mundo. Cada sensor só responde 0 ou 1: branco ou preto. Três sensores binários dão 2³, ou seja, 8 combinações.
Por exemplo: 010 quer dizer esquerda branco, centro preto, direita branco. Isso é o estado “centralizado”. Toda a percepção do robô cabe em oito códigos. É uma simplificação — e é isso que torna o problema tratável.
AÇÃO
Aponte para a linha 010 destacada e para os três pontos.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coração do projeto: a Q-table. Ela tem oito linhas, uma para cada situação, e três colunas, uma para cada ação. Cada célula guarda uma nota: quanto vale aquela ação naquela situação.
Olha a linha 010, a situação centralizada: +7,7 para esquerda, +9,0 para reto, +8,3 para direita. A maior nota é 9,0, então ele escolhe reto. A célula terracota mostra a melhor ação de cada linha.
São 24 números. É só isso que ele precisa guardar. E repare na linha 000: todas as notas são negativas porque ele perdeu a linha. Ele ainda escolhe a menos ruim, mas aprende a evitar chegar ali.
AÇÃO
Passe o dedo na linha 010; depois aponte para a coluna RETO e para a célula terracota. Faça uma pausa de 2 segundos antes de dizer “24 números”.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de onde vêm esses números? Do treinamento. No começo, a tabela está toda zerada. A cada episódio, ele erra, recebe a nota e atualiza uma célula.
Aqui estão quatro momentos: episódio 10, 50, 100 e 200. No começo, quase tudo neutro; no fim, cada linha já tem uma preferência clara. Não é um salto: é acumulação. Cada erro muda um pouquinho.
AÇÃO
Aponte para os quatro quadros, da esquerda para a direita.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é sempre o mesmo: sensar, escolher, agir, medir. Ele lê os três sensores, consulta a linha da tabela, aciona os motores e recebe a recompensa. Dez vezes por segundo.
A cada volta, uma única célula da tabela é atualizada. É um loop muito simples — e é isso que cabe dentro de um Arduino.
AÇÃO
Faça um círculo no ar acompanhando as setas.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Existe</a:t>
            </a:r>
            <a:r>
              <a:rPr lang="en-US" dirty="0"/>
              <a:t> um dilema: ele pode repetir o que já sabe ou arriscar algo novo. No começo, ele chuta quase tudo: a exploração é 1,00, 100%. A cada episódio, essa curiosidade cai.
Depois de 200 episódios, está em 0,13: 13% de exploração, 87% de confiança no que aprendeu. O mínimo no código é 2%. Se só chutar, nunca aprende; se só repetir, nunca descobre algo melhor.
AÇÃO
Aponte para a curva e depois para os dois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treinamento acontece no simulador: 200 episódios, até 1.000 passos cada. Cada episódio começa em um ponto diferente da pista. Se ele fica 15 passos fora da linha, o episódio acaba.
No simulador, errar é barato: ele pode cair, sair da pista, recomeçar. Depois, a mesma tabela vai para o robô de verdade. Aqui, cada ponto é um episódio; os terracota são os snapshots que a gente usou para acompanhar a evolução.
AÇÃO
Aponte para o número 200, depois para a grade de pontos.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o resultado aparece na recompensa. Nos primeiros 20 episódios, a média era −49. Nos últimos 20, +559. Isso não é um prêmio: é o sinal de que ele passa muito mais tempo na linha.
A curva completa está no próximo slide. Mas o número grande resume: ele saiu de um comportamento ruim para um comportamento bom.
AÇÃO
Pause depois de “+559”. Deixe o número aparecer para o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comparar, a mesma pista e o mesmo ponto de partida. Em cima, a política aleatória: ela fica na linha só 5 passos e sai. Embaixo, a política aprendida: 120 passos, 120 na linha.
Cada quadradinho é um passo; terracota quer dizer “está sobre a linha”. A diferença não é sorte: é a tabela.
AÇÃO
Aponte para a faixa de cima e depois para a de baixo. Se o robô estiver rodando, aponte para ele também.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que a curva não é lisa. Cada linha clara é um episódio; a linha escura é a média móvel. Tem queda, tem episódio ruim, tem variação.
O melhor episódio chegou a +822, mas os últimos 20 ficaram em +559. Aprender é irregular. Ele ainda erra — só erra menos.
AÇÃO
Não tente justificar cada queda. A mensagem é a tendência, não cada ponto.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vocês quiserem entender como isso vira um projeto de engenharia, existem quatro formas de montar. A mais simples é o if/else, que é a linha de base. Depois, o simulador em Python, que treina rápido.
Depois, o agente embarcado no Arduino, que aprende sozinho. E o modo serial, em que o Python manda leituras e o Arduino devolve ações. A mesma tabela de 24 números pode viver no PC ou na RAM do microcontrolador. O robô aqui usa a versão embarcada.
AÇÃO
Aponte para as três colunas do slide: simulador, ponte e robô.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isso importa? Porque é inteligência artificial rodando local, sem nuvem, com 24 números e um microcontrolador barato. É a ideia de edge AI: decidir perto de onde a ação acontece.
E é uma forma muito concreta de ensinar reforço: dá para ver a tabela mudando.
AÇÃO
Sem pressa. Deixe a frase “sem nuvem” cair.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o que ele ainda não sabe? Oito estados é pouco para curvas fechadas e cruzamentos. A linha ainda pode ser perdida. E o simulador não é o chão de verdade: atrito, ruído e bateria mudam o jogo.
Os próximos passos são mais sensores, câmera e estados contínuos. O próximo passo é sair do discreto — e continuar aprendendo.
AÇÃO
Aponte para o “8 → ∞” e depois para a lista de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Então</a:t>
            </a:r>
            <a:r>
              <a:rPr lang="en-US" dirty="0"/>
              <a:t>, voltando à pergunta do começo: como um robô aprende? Ele não nasceu sabendo. Ele tentou, errou, recebeu notas e ajustou uma tabela de 24 números. Isso é aprendizado por reforço.
E o robô está aqui do lado: eu posso colocá-lo na pista agora. Enquanto ele anda, reparem nos sensores e nas rodas. E me perguntem: e se a linha acabar? Obrigado!
AÇÃO
Coloque o robô na pista e deixe-o rodar por 10–15 segundos antes de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· Q-LEARNING
Se a banca pedir a conta:
Q[s,a] ← Q[s,a] + α · (r + γ · max Q[s′,a′] − Q[s,a])
α = 0,1 — taxa de aprendizado: quanto da novidade entra na nota.
γ = 0,9 — desconto do futuro: o quanto o amanhã importa.
ε = 1,0 → 0,13 — exploração: curiosidade que cai a cada episódio; mínimo 0,02.
Recompensa: centro +1,0 · lateral −0,5 · perdeu a linha −3,0.
O Q-update acontece antes da próxima escolha. A tabela é atualizada uma célula por passo.
Referência: Sutton &amp; Barto, 2018, cap.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robô fosse um bicho, ele seria um cachorro num parque com oito cheiros e três caminhos. Ele não nasce sabendo onde tem comida: ele cheira, escolhe, ganha um petisco ou um susto e ajusta o instinto.
A tabela é o instinto dele. Em vez de focinho, três sensores. Em vez de patas, dois motores. Em vez de uma tarde, um episódio. A curiosidade é o epsilon; a paciência com o futuro é o gamma.
AÇÃO
Aponte para a tabela “cachorro × robô” e depois para a equação traduzida. Se quiser, use esta analogia antes do slide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· ARQUITETURAS
Quatro modos:
1 · if/else — robô físico, regras fixas, não aprende; é a linha de base.
2 · sim.py — ambiente e agente em Python, 100% simulado; treino rápido.
3 · onboard — agente embarcado no Arduino, sem PC e sem serial; robô autônomo.
4 · serial — ambiente no Python e agente no Arduino/ESP32; hardware-in-the-loop.
O modo 4 valida a Q-table no hardware antes de soltar o robô autônomo. O modo 3 é o que roda no robô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· NÚMEROS
Parâmetros: 200 episódios · até 1.000 passos por episódio · 8×3 = 24 notas · α=0,1 · γ=0,9 · ε 1,0→0,13.
Resultados: recompensa média −49 (primeiros 20) → +559 (últimos 20); melhor episódio +822; política aleatória 5 passos na linha × política aprendida 120 de 120.
Cuidado: são números do simulador. No robô real, atrito, ruído e bateria mudam o jogo.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FEIRA DE CIÊNCIAS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321040" y="502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kern="0" spc="13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Q-LEARNING  ·  8 ESTADOS  ·  3 AÇÕES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Como um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robô aprende?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seguidor de linha que descobre o caminho por tentativa e erro.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5074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ROBÓTICA  · 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909560" y="9601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800" dirty="0">
                <a:solidFill>
                  <a:srgbClr val="E2D7C6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8 × 3</a:t>
            </a:r>
            <a:endParaRPr lang="en-US" sz="12800" dirty="0"/>
          </a:p>
        </p:txBody>
      </p:sp>
      <p:sp>
        <p:nvSpPr>
          <p:cNvPr id="9" name="Text 7"/>
          <p:cNvSpPr/>
          <p:nvPr/>
        </p:nvSpPr>
        <p:spPr>
          <a:xfrm>
            <a:off x="854964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kern="0" spc="16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estados × ações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137392" y="1993392"/>
            <a:ext cx="91440" cy="9144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77240" y="59893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61447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ROBÔ ESTÁ AO LADO  ·  PERGUNTE A ELE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0" y="6144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O DESAFIO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7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20"/>
              </a:lnSpc>
              <a:buNone/>
            </a:pPr>
            <a:r>
              <a:rPr lang="en-US" sz="5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Seguir uma linha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77240" y="1748536"/>
            <a:ext cx="10607040" cy="87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20"/>
              </a:lnSpc>
              <a:buNone/>
            </a:pPr>
            <a:r>
              <a:rPr lang="en-US" sz="5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parece simples.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uma máquina, é decidir 10 vezes por segundo.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cada passo, o robô lê o chão, escolhe uma entre três ações e move dois motores. Sem parar.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709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3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777240" y="5623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SENSORES INFRAVERMELHOS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4709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3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3291840" y="5623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AÇÕES POSSÍVEIS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0" y="4709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10×</a:t>
            </a:r>
            <a:endParaRPr lang="en-US" sz="7600" dirty="0"/>
          </a:p>
        </p:txBody>
      </p:sp>
      <p:sp>
        <p:nvSpPr>
          <p:cNvPr id="12" name="Text 10"/>
          <p:cNvSpPr/>
          <p:nvPr/>
        </p:nvSpPr>
        <p:spPr>
          <a:xfrm>
            <a:off x="5760720" y="5623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DECISÕES POR SEGUNDO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DUAS ABORDAGENS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Regras prontas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698752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ou aprender fazendo?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robô seguidor de linha precisa responder à mesma pergunta: para onde ir agora? A diferença está em como a resposta é produzida.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3657600"/>
            <a:ext cx="4983480" cy="1691640"/>
          </a:xfrm>
          <a:prstGeom prst="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446520" y="3657600"/>
            <a:ext cx="4983480" cy="1691640"/>
          </a:xfrm>
          <a:prstGeom prst="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3913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6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REGRAS PRONTAS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(esq &amp;&amp; !dir)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virar(ESQUERDA)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(!esq &amp;&amp; dir)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virar(DIREITA)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502920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programador decide cada caso.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0" y="3913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6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APRENDER FAZENDO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66560" y="42976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ação  →  recompensa  →  nova nota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471830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robô descobre o que funciona.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50109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regras escritas à mão.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6509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primeiro repete. O segundo se adapta.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 REGRA DO JOGO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 recompensa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o professor.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é uma instrução. É uma nota que chega depois da ação — e diz se ela foi boa ou ruim.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+1,0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77724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051560" y="4892040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32588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828800" y="4828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centro na linha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3794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-0,5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4389120" y="4892040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6344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93776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440680" y="4828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lateral ativo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3794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-3,0</a:t>
            </a:r>
            <a:endParaRPr lang="en-US" sz="7200" dirty="0"/>
          </a:p>
        </p:txBody>
      </p:sp>
      <p:sp>
        <p:nvSpPr>
          <p:cNvPr id="17" name="Shape 15"/>
          <p:cNvSpPr/>
          <p:nvPr/>
        </p:nvSpPr>
        <p:spPr>
          <a:xfrm>
            <a:off x="800100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27532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549640" y="4892040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052560" y="4828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perdeu a linha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548640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669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E69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petiscos para um cachorro — só que o petisco é um número.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O MUNDO DO ROBÔ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Três sensores.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698752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Oito situações.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sensor responde apenas 0 ou 1: branco ou preto. Três sensores binários geram 2³ = 8 leituras possíveis.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3913632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2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99032" y="38221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56232" y="3913632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=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2606040" y="3913632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8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777240" y="5166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 a percepção do robô cabe em oito códigos.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35240" y="1463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4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  M   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37960" y="16642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16952" y="170992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927848" y="170992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238744" y="170992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537960" y="21671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16952" y="221284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927848" y="221284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238744" y="221284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0" y="2596896"/>
            <a:ext cx="4709160" cy="420624"/>
          </a:xfrm>
          <a:prstGeom prst="rect">
            <a:avLst/>
          </a:prstGeom>
          <a:solidFill>
            <a:srgbClr val="E7DCCB">
              <a:alpha val="75000"/>
            </a:srgbClr>
          </a:solidFill>
          <a:ln w="12700">
            <a:solidFill>
              <a:srgbClr val="E7DCC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537960" y="2670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16952" y="271576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927848" y="271576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238744" y="271576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869680" y="26883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 linha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31729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16952" y="321868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7927848" y="321868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8238744" y="321868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537960" y="36758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16952" y="372160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7927848" y="372160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8238744" y="372160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537960" y="41788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616952" y="422452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7927848" y="422452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8238744" y="422452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537960" y="4681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616952" y="472744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7927848" y="472744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8238744" y="4727448"/>
            <a:ext cx="118872" cy="118872"/>
          </a:xfrm>
          <a:prstGeom prst="ellipse">
            <a:avLst/>
          </a:prstGeom>
          <a:solidFill>
            <a:srgbClr val="F4F1EA"/>
          </a:solidFill>
          <a:ln w="11430">
            <a:solidFill>
              <a:srgbClr val="17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537960" y="51846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616952" y="523036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7927848" y="523036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8238744" y="5230368"/>
            <a:ext cx="118872" cy="118872"/>
          </a:xfrm>
          <a:prstGeom prst="ellipse">
            <a:avLst/>
          </a:prstGeom>
          <a:solidFill>
            <a:srgbClr val="C24E2E"/>
          </a:solidFill>
          <a:ln w="1143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6537960" y="5806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 = preto   ○ 0 = branco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A TABELA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30"/>
              </a:lnSpc>
              <a:buNone/>
            </a:pPr>
            <a:r>
              <a:rPr lang="en-US" sz="54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Uma tabela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1723644"/>
            <a:ext cx="10607040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30"/>
              </a:lnSpc>
              <a:buNone/>
            </a:pPr>
            <a:r>
              <a:rPr lang="en-US" sz="54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de notas.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Oito situações nas linhas. Três ações nas colunas. Cada célula guarda quanto vale escolher aquela ação naquela situação.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maior nota da linha vira a decisão.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× 3 = 24 notas.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5285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só isso que ele precisa guardar.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0488" y="129844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8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ESQ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90104" y="129844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8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 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89720" y="129844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8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40680" y="165506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90488" y="1572768"/>
            <a:ext cx="1444752" cy="420624"/>
          </a:xfrm>
          <a:prstGeom prst="rect">
            <a:avLst/>
          </a:prstGeom>
          <a:solidFill>
            <a:srgbClr val="7D8577">
              <a:alpha val="18000"/>
            </a:srgbClr>
          </a:solidFill>
          <a:ln w="12700">
            <a:solidFill>
              <a:srgbClr val="7D85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90488" y="166420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-11,2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90104" y="1572768"/>
            <a:ext cx="1444752" cy="420624"/>
          </a:xfrm>
          <a:prstGeom prst="rect">
            <a:avLst/>
          </a:prstGeom>
          <a:solidFill>
            <a:srgbClr val="7D8577">
              <a:alpha val="18000"/>
            </a:srgbClr>
          </a:solidFill>
          <a:ln w="12700">
            <a:solidFill>
              <a:srgbClr val="7D85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90104" y="166420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-9,5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89720" y="1572768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89720" y="166420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-8,8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40680" y="214884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90488" y="2066544"/>
            <a:ext cx="1444752" cy="420624"/>
          </a:xfrm>
          <a:prstGeom prst="rect">
            <a:avLst/>
          </a:prstGeom>
          <a:solidFill>
            <a:srgbClr val="7D8577">
              <a:alpha val="18000"/>
            </a:srgbClr>
          </a:solidFill>
          <a:ln w="12700">
            <a:solidFill>
              <a:srgbClr val="7D85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190488" y="215798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-1,4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90104" y="2066544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690104" y="215798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+6,7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89720" y="2066544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189720" y="215798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+7,8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40680" y="2642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90488" y="2560320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190488" y="26517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+7,7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90104" y="2560320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690104" y="26517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+9,0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89720" y="2560320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189720" y="26517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+8,3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40680" y="313639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90488" y="3054096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190488" y="314553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+6,8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90104" y="3054096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690104" y="314553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+8,6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89720" y="3054096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9189720" y="314553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+9,0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40680" y="363016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90488" y="3547872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190488" y="36393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+8,4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690104" y="3547872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7690104" y="36393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+6,3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189720" y="3547872"/>
            <a:ext cx="1444752" cy="420624"/>
          </a:xfrm>
          <a:prstGeom prst="rect">
            <a:avLst/>
          </a:prstGeom>
          <a:solidFill>
            <a:srgbClr val="EFE7DA">
              <a:alpha val="55000"/>
            </a:srgbClr>
          </a:solidFill>
          <a:ln w="12700">
            <a:solidFill>
              <a:srgbClr val="EFE7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189720" y="36393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-0,1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40680" y="412394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90488" y="4041648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6190488" y="41330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690104" y="4041648"/>
            <a:ext cx="1444752" cy="420624"/>
          </a:xfrm>
          <a:prstGeom prst="rect">
            <a:avLst/>
          </a:prstGeom>
          <a:solidFill>
            <a:srgbClr val="EFE7DA">
              <a:alpha val="55000"/>
            </a:srgbClr>
          </a:solidFill>
          <a:ln w="12700">
            <a:solidFill>
              <a:srgbClr val="EFE7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7690104" y="41330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189720" y="4041648"/>
            <a:ext cx="1444752" cy="420624"/>
          </a:xfrm>
          <a:prstGeom prst="rect">
            <a:avLst/>
          </a:prstGeom>
          <a:solidFill>
            <a:srgbClr val="EFE7DA">
              <a:alpha val="55000"/>
            </a:srgbClr>
          </a:solidFill>
          <a:ln w="12700">
            <a:solidFill>
              <a:srgbClr val="EFE7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9189720" y="41330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440680" y="46177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90488" y="4535424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190488" y="462686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+9,0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690104" y="4535424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7690104" y="462686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+8,6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189720" y="4535424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9189720" y="462686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+7,2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440680" y="511149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90488" y="5029200"/>
            <a:ext cx="1444752" cy="420624"/>
          </a:xfrm>
          <a:prstGeom prst="rect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6190488" y="512064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+3,4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690104" y="5029200"/>
            <a:ext cx="1444752" cy="420624"/>
          </a:xfrm>
          <a:prstGeom prst="rect">
            <a:avLst/>
          </a:prstGeom>
          <a:solidFill>
            <a:srgbClr val="C24E2E">
              <a:alpha val="18000"/>
            </a:srgbClr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7690104" y="512064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+0,7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189720" y="5029200"/>
            <a:ext cx="1444752" cy="420624"/>
          </a:xfrm>
          <a:prstGeom prst="rect">
            <a:avLst/>
          </a:prstGeom>
          <a:solidFill>
            <a:srgbClr val="EFE7DA">
              <a:alpha val="55000"/>
            </a:srgbClr>
          </a:solidFill>
          <a:ln w="12700">
            <a:solidFill>
              <a:srgbClr val="EFE7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9189720" y="512064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440680" y="5614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célula terracota = melhor ação da linha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5440680" y="5852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 = estado ainda sem experiência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5440680" y="6108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EXEMPLO  010 → RETO  (+9,0)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APRENDIZADO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789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4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No começo, tudo zero.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1527048"/>
            <a:ext cx="10789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4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Depois, cada linha ganha preferência.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2128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grade 8×3 em quatro momentos. A cada episódio, uma célula muda um pouco.</a:t>
            </a:r>
            <a:endParaRPr lang="en-US" sz="1400" dirty="0"/>
          </a:p>
        </p:txBody>
      </p:sp>
      <p:pic>
        <p:nvPicPr>
          <p:cNvPr id="6" name="Image 0" descr="Quatro grades 8 por 3 mostrando a Q-table nos episódios 10, 50, 100 e 20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70048"/>
            <a:ext cx="10424160" cy="2670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46811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verde = nota negativa   ·   terracota = nota positiva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" y="5833872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77240" y="5989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números. É só isso que o robô precisa guardar.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O CICLO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Sensar. Escolher.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77240" y="15824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Agir. Medir.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ciclo curto, repetido sem parar.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044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SENSAR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lê os três sensores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2788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43800" y="3044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ESCOLHER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4380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a linha da tabela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43800" y="4526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43800" y="4782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AGIR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43800" y="5184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aciona os dois motores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4782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5184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 a recompensa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3090672"/>
            <a:ext cx="3886200" cy="914"/>
          </a:xfrm>
          <a:prstGeom prst="line">
            <a:avLst/>
          </a:prstGeom>
          <a:solidFill>
            <a:srgbClr val="F4F1EA">
              <a:alpha val="0"/>
            </a:srgbClr>
          </a:solidFill>
          <a:ln w="15240">
            <a:solidFill>
              <a:srgbClr val="C24E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738360" y="3310128"/>
            <a:ext cx="914" cy="1170432"/>
          </a:xfrm>
          <a:prstGeom prst="line">
            <a:avLst/>
          </a:prstGeom>
          <a:solidFill>
            <a:srgbClr val="F4F1EA">
              <a:alpha val="0"/>
            </a:srgbClr>
          </a:solidFill>
          <a:ln w="15240">
            <a:solidFill>
              <a:srgbClr val="C24E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 flipH="1">
            <a:off x="3611880" y="4864608"/>
            <a:ext cx="3886200" cy="914"/>
          </a:xfrm>
          <a:prstGeom prst="line">
            <a:avLst/>
          </a:prstGeom>
          <a:solidFill>
            <a:srgbClr val="F4F1EA">
              <a:alpha val="0"/>
            </a:srgbClr>
          </a:solidFill>
          <a:ln w="15240">
            <a:solidFill>
              <a:srgbClr val="C24E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 flipV="1">
            <a:off x="2331720" y="3310128"/>
            <a:ext cx="914" cy="1170432"/>
          </a:xfrm>
          <a:prstGeom prst="line">
            <a:avLst/>
          </a:prstGeom>
          <a:solidFill>
            <a:srgbClr val="F4F1EA">
              <a:alpha val="0"/>
            </a:srgbClr>
          </a:solidFill>
          <a:ln w="15240">
            <a:solidFill>
              <a:srgbClr val="C24E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285232" y="36758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10×/s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85232" y="39593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 volta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724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6E69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cada volta, uma única célula da tabela é atualizada.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EXPLORAÇÃO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60"/>
              </a:lnSpc>
              <a:buNone/>
            </a:pPr>
            <a:r>
              <a:rPr lang="en-US" sz="48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No começo, ele chuta.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1557528"/>
            <a:ext cx="106070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60"/>
              </a:lnSpc>
              <a:buNone/>
            </a:pPr>
            <a:r>
              <a:rPr lang="en-US" sz="48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Depois, ele confia.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só chutar, nunca aprende. Se só repetir, nunca descobre algo melhor. A curiosidade cai aos poucos.</a:t>
            </a:r>
            <a:endParaRPr lang="en-US" sz="1450" dirty="0"/>
          </a:p>
        </p:txBody>
      </p:sp>
      <p:pic>
        <p:nvPicPr>
          <p:cNvPr id="6" name="Image 0" descr="Curva de exploração caindo de 1,00 para 0,13 ao longo de 200 episódio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71800"/>
            <a:ext cx="5897880" cy="2852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0" y="2880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1,00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7223760" y="3675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2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EXPLORAÇÃO NO INÍCIO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6092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01000" y="39136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0,13</a:t>
            </a:r>
            <a:endParaRPr lang="en-US" sz="6200" dirty="0"/>
          </a:p>
        </p:txBody>
      </p:sp>
      <p:sp>
        <p:nvSpPr>
          <p:cNvPr id="11" name="Text 8"/>
          <p:cNvSpPr/>
          <p:nvPr/>
        </p:nvSpPr>
        <p:spPr>
          <a:xfrm>
            <a:off x="8046720" y="4709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2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APÓS 200 EPISÓDIOS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223760" y="5138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mínimo de 0,02 no código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TREINAMENTO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60"/>
              </a:lnSpc>
              <a:buNone/>
            </a:pPr>
            <a:r>
              <a:rPr lang="en-US" sz="48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200 vidas 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1557528"/>
            <a:ext cx="106070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60"/>
              </a:lnSpc>
              <a:buNone/>
            </a:pPr>
            <a:r>
              <a:rPr lang="en-US" sz="48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uma pista de mentira.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simulador, errar é barato. Cada episódio começa em um ponto diferente; 15 passos fora da linha encerram a tentativa.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200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777240" y="4315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4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EPISÓDIOS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3464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1.000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2880360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4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PASSOS POR EPISÓDIO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0" y="20391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2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EPISÓDIOS = 200 PONTOS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0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807708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031736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255764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79792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03820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927848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151876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375904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599932" y="2331720"/>
            <a:ext cx="68580" cy="6858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823960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047988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272016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496044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720072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9944100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0168128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0392156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10616184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10840212" y="233172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583680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807708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7031736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7255764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7479792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7703820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7927848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8151876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8375904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8599932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8823960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9047988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9272016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9496044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9720072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9944100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10168128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10392156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10616184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10840212" y="255574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6583680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6807708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7031736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7255764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7479792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7703820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7927848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8151876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8375904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8599932" y="2779776"/>
            <a:ext cx="68580" cy="6858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8823960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9047988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9272016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9496044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9720072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4"/>
          <p:cNvSpPr/>
          <p:nvPr/>
        </p:nvSpPr>
        <p:spPr>
          <a:xfrm>
            <a:off x="9944100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>
            <a:off x="10168128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10392156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10616184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10840212" y="277977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6583680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6807708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7031736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7255764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7479792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7703820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5"/>
          <p:cNvSpPr/>
          <p:nvPr/>
        </p:nvSpPr>
        <p:spPr>
          <a:xfrm>
            <a:off x="7927848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Shape 76"/>
          <p:cNvSpPr/>
          <p:nvPr/>
        </p:nvSpPr>
        <p:spPr>
          <a:xfrm>
            <a:off x="8151876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Shape 77"/>
          <p:cNvSpPr/>
          <p:nvPr/>
        </p:nvSpPr>
        <p:spPr>
          <a:xfrm>
            <a:off x="8375904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Shape 78"/>
          <p:cNvSpPr/>
          <p:nvPr/>
        </p:nvSpPr>
        <p:spPr>
          <a:xfrm>
            <a:off x="8599932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79"/>
          <p:cNvSpPr/>
          <p:nvPr/>
        </p:nvSpPr>
        <p:spPr>
          <a:xfrm>
            <a:off x="8823960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Shape 80"/>
          <p:cNvSpPr/>
          <p:nvPr/>
        </p:nvSpPr>
        <p:spPr>
          <a:xfrm>
            <a:off x="9047988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Shape 81"/>
          <p:cNvSpPr/>
          <p:nvPr/>
        </p:nvSpPr>
        <p:spPr>
          <a:xfrm>
            <a:off x="9272016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Shape 82"/>
          <p:cNvSpPr/>
          <p:nvPr/>
        </p:nvSpPr>
        <p:spPr>
          <a:xfrm>
            <a:off x="9496044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Shape 83"/>
          <p:cNvSpPr/>
          <p:nvPr/>
        </p:nvSpPr>
        <p:spPr>
          <a:xfrm>
            <a:off x="9720072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Shape 84"/>
          <p:cNvSpPr/>
          <p:nvPr/>
        </p:nvSpPr>
        <p:spPr>
          <a:xfrm>
            <a:off x="9944100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Shape 85"/>
          <p:cNvSpPr/>
          <p:nvPr/>
        </p:nvSpPr>
        <p:spPr>
          <a:xfrm>
            <a:off x="10168128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Shape 86"/>
          <p:cNvSpPr/>
          <p:nvPr/>
        </p:nvSpPr>
        <p:spPr>
          <a:xfrm>
            <a:off x="10392156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9" name="Shape 87"/>
          <p:cNvSpPr/>
          <p:nvPr/>
        </p:nvSpPr>
        <p:spPr>
          <a:xfrm>
            <a:off x="10616184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Shape 88"/>
          <p:cNvSpPr/>
          <p:nvPr/>
        </p:nvSpPr>
        <p:spPr>
          <a:xfrm>
            <a:off x="10840212" y="300380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Shape 89"/>
          <p:cNvSpPr/>
          <p:nvPr/>
        </p:nvSpPr>
        <p:spPr>
          <a:xfrm>
            <a:off x="6583680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2" name="Shape 90"/>
          <p:cNvSpPr/>
          <p:nvPr/>
        </p:nvSpPr>
        <p:spPr>
          <a:xfrm>
            <a:off x="6807708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3" name="Shape 91"/>
          <p:cNvSpPr/>
          <p:nvPr/>
        </p:nvSpPr>
        <p:spPr>
          <a:xfrm>
            <a:off x="7031736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4" name="Shape 92"/>
          <p:cNvSpPr/>
          <p:nvPr/>
        </p:nvSpPr>
        <p:spPr>
          <a:xfrm>
            <a:off x="7255764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5" name="Shape 93"/>
          <p:cNvSpPr/>
          <p:nvPr/>
        </p:nvSpPr>
        <p:spPr>
          <a:xfrm>
            <a:off x="7479792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6" name="Shape 94"/>
          <p:cNvSpPr/>
          <p:nvPr/>
        </p:nvSpPr>
        <p:spPr>
          <a:xfrm>
            <a:off x="7703820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7" name="Shape 95"/>
          <p:cNvSpPr/>
          <p:nvPr/>
        </p:nvSpPr>
        <p:spPr>
          <a:xfrm>
            <a:off x="7927848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8" name="Shape 96"/>
          <p:cNvSpPr/>
          <p:nvPr/>
        </p:nvSpPr>
        <p:spPr>
          <a:xfrm>
            <a:off x="8151876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9" name="Shape 97"/>
          <p:cNvSpPr/>
          <p:nvPr/>
        </p:nvSpPr>
        <p:spPr>
          <a:xfrm>
            <a:off x="8375904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Shape 98"/>
          <p:cNvSpPr/>
          <p:nvPr/>
        </p:nvSpPr>
        <p:spPr>
          <a:xfrm>
            <a:off x="8599932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1" name="Shape 99"/>
          <p:cNvSpPr/>
          <p:nvPr/>
        </p:nvSpPr>
        <p:spPr>
          <a:xfrm>
            <a:off x="8823960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2" name="Shape 100"/>
          <p:cNvSpPr/>
          <p:nvPr/>
        </p:nvSpPr>
        <p:spPr>
          <a:xfrm>
            <a:off x="9047988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3" name="Shape 101"/>
          <p:cNvSpPr/>
          <p:nvPr/>
        </p:nvSpPr>
        <p:spPr>
          <a:xfrm>
            <a:off x="9272016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4" name="Shape 102"/>
          <p:cNvSpPr/>
          <p:nvPr/>
        </p:nvSpPr>
        <p:spPr>
          <a:xfrm>
            <a:off x="9496044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5" name="Shape 103"/>
          <p:cNvSpPr/>
          <p:nvPr/>
        </p:nvSpPr>
        <p:spPr>
          <a:xfrm>
            <a:off x="9720072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6" name="Shape 104"/>
          <p:cNvSpPr/>
          <p:nvPr/>
        </p:nvSpPr>
        <p:spPr>
          <a:xfrm>
            <a:off x="9944100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7" name="Shape 105"/>
          <p:cNvSpPr/>
          <p:nvPr/>
        </p:nvSpPr>
        <p:spPr>
          <a:xfrm>
            <a:off x="10168128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8" name="Shape 106"/>
          <p:cNvSpPr/>
          <p:nvPr/>
        </p:nvSpPr>
        <p:spPr>
          <a:xfrm>
            <a:off x="10392156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9" name="Shape 107"/>
          <p:cNvSpPr/>
          <p:nvPr/>
        </p:nvSpPr>
        <p:spPr>
          <a:xfrm>
            <a:off x="10616184" y="322783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0" name="Shape 108"/>
          <p:cNvSpPr/>
          <p:nvPr/>
        </p:nvSpPr>
        <p:spPr>
          <a:xfrm>
            <a:off x="10840212" y="3227832"/>
            <a:ext cx="68580" cy="6858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1" name="Shape 109"/>
          <p:cNvSpPr/>
          <p:nvPr/>
        </p:nvSpPr>
        <p:spPr>
          <a:xfrm>
            <a:off x="6583680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2" name="Shape 110"/>
          <p:cNvSpPr/>
          <p:nvPr/>
        </p:nvSpPr>
        <p:spPr>
          <a:xfrm>
            <a:off x="6807708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3" name="Shape 111"/>
          <p:cNvSpPr/>
          <p:nvPr/>
        </p:nvSpPr>
        <p:spPr>
          <a:xfrm>
            <a:off x="7031736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4" name="Shape 112"/>
          <p:cNvSpPr/>
          <p:nvPr/>
        </p:nvSpPr>
        <p:spPr>
          <a:xfrm>
            <a:off x="7255764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5" name="Shape 113"/>
          <p:cNvSpPr/>
          <p:nvPr/>
        </p:nvSpPr>
        <p:spPr>
          <a:xfrm>
            <a:off x="7479792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6" name="Shape 114"/>
          <p:cNvSpPr/>
          <p:nvPr/>
        </p:nvSpPr>
        <p:spPr>
          <a:xfrm>
            <a:off x="7703820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7" name="Shape 115"/>
          <p:cNvSpPr/>
          <p:nvPr/>
        </p:nvSpPr>
        <p:spPr>
          <a:xfrm>
            <a:off x="7927848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8" name="Shape 116"/>
          <p:cNvSpPr/>
          <p:nvPr/>
        </p:nvSpPr>
        <p:spPr>
          <a:xfrm>
            <a:off x="8151876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9" name="Shape 117"/>
          <p:cNvSpPr/>
          <p:nvPr/>
        </p:nvSpPr>
        <p:spPr>
          <a:xfrm>
            <a:off x="8375904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0" name="Shape 118"/>
          <p:cNvSpPr/>
          <p:nvPr/>
        </p:nvSpPr>
        <p:spPr>
          <a:xfrm>
            <a:off x="8599932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1" name="Shape 119"/>
          <p:cNvSpPr/>
          <p:nvPr/>
        </p:nvSpPr>
        <p:spPr>
          <a:xfrm>
            <a:off x="8823960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2" name="Shape 120"/>
          <p:cNvSpPr/>
          <p:nvPr/>
        </p:nvSpPr>
        <p:spPr>
          <a:xfrm>
            <a:off x="9047988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3" name="Shape 121"/>
          <p:cNvSpPr/>
          <p:nvPr/>
        </p:nvSpPr>
        <p:spPr>
          <a:xfrm>
            <a:off x="9272016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4" name="Shape 122"/>
          <p:cNvSpPr/>
          <p:nvPr/>
        </p:nvSpPr>
        <p:spPr>
          <a:xfrm>
            <a:off x="9496044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5" name="Shape 123"/>
          <p:cNvSpPr/>
          <p:nvPr/>
        </p:nvSpPr>
        <p:spPr>
          <a:xfrm>
            <a:off x="9720072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6" name="Shape 124"/>
          <p:cNvSpPr/>
          <p:nvPr/>
        </p:nvSpPr>
        <p:spPr>
          <a:xfrm>
            <a:off x="9944100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7" name="Shape 125"/>
          <p:cNvSpPr/>
          <p:nvPr/>
        </p:nvSpPr>
        <p:spPr>
          <a:xfrm>
            <a:off x="10168128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8" name="Shape 126"/>
          <p:cNvSpPr/>
          <p:nvPr/>
        </p:nvSpPr>
        <p:spPr>
          <a:xfrm>
            <a:off x="10392156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9" name="Shape 127"/>
          <p:cNvSpPr/>
          <p:nvPr/>
        </p:nvSpPr>
        <p:spPr>
          <a:xfrm>
            <a:off x="10616184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0" name="Shape 128"/>
          <p:cNvSpPr/>
          <p:nvPr/>
        </p:nvSpPr>
        <p:spPr>
          <a:xfrm>
            <a:off x="10840212" y="3451860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1" name="Shape 129"/>
          <p:cNvSpPr/>
          <p:nvPr/>
        </p:nvSpPr>
        <p:spPr>
          <a:xfrm>
            <a:off x="6583680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2" name="Shape 130"/>
          <p:cNvSpPr/>
          <p:nvPr/>
        </p:nvSpPr>
        <p:spPr>
          <a:xfrm>
            <a:off x="6807708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3" name="Shape 131"/>
          <p:cNvSpPr/>
          <p:nvPr/>
        </p:nvSpPr>
        <p:spPr>
          <a:xfrm>
            <a:off x="7031736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4" name="Shape 132"/>
          <p:cNvSpPr/>
          <p:nvPr/>
        </p:nvSpPr>
        <p:spPr>
          <a:xfrm>
            <a:off x="7255764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5" name="Shape 133"/>
          <p:cNvSpPr/>
          <p:nvPr/>
        </p:nvSpPr>
        <p:spPr>
          <a:xfrm>
            <a:off x="7479792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6" name="Shape 134"/>
          <p:cNvSpPr/>
          <p:nvPr/>
        </p:nvSpPr>
        <p:spPr>
          <a:xfrm>
            <a:off x="7703820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7" name="Shape 135"/>
          <p:cNvSpPr/>
          <p:nvPr/>
        </p:nvSpPr>
        <p:spPr>
          <a:xfrm>
            <a:off x="7927848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8" name="Shape 136"/>
          <p:cNvSpPr/>
          <p:nvPr/>
        </p:nvSpPr>
        <p:spPr>
          <a:xfrm>
            <a:off x="8151876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9" name="Shape 137"/>
          <p:cNvSpPr/>
          <p:nvPr/>
        </p:nvSpPr>
        <p:spPr>
          <a:xfrm>
            <a:off x="8375904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0" name="Shape 138"/>
          <p:cNvSpPr/>
          <p:nvPr/>
        </p:nvSpPr>
        <p:spPr>
          <a:xfrm>
            <a:off x="8599932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1" name="Shape 139"/>
          <p:cNvSpPr/>
          <p:nvPr/>
        </p:nvSpPr>
        <p:spPr>
          <a:xfrm>
            <a:off x="8823960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2" name="Shape 140"/>
          <p:cNvSpPr/>
          <p:nvPr/>
        </p:nvSpPr>
        <p:spPr>
          <a:xfrm>
            <a:off x="9047988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3" name="Shape 141"/>
          <p:cNvSpPr/>
          <p:nvPr/>
        </p:nvSpPr>
        <p:spPr>
          <a:xfrm>
            <a:off x="9272016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4" name="Shape 142"/>
          <p:cNvSpPr/>
          <p:nvPr/>
        </p:nvSpPr>
        <p:spPr>
          <a:xfrm>
            <a:off x="9496044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5" name="Shape 143"/>
          <p:cNvSpPr/>
          <p:nvPr/>
        </p:nvSpPr>
        <p:spPr>
          <a:xfrm>
            <a:off x="9720072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6" name="Shape 144"/>
          <p:cNvSpPr/>
          <p:nvPr/>
        </p:nvSpPr>
        <p:spPr>
          <a:xfrm>
            <a:off x="9944100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7" name="Shape 145"/>
          <p:cNvSpPr/>
          <p:nvPr/>
        </p:nvSpPr>
        <p:spPr>
          <a:xfrm>
            <a:off x="10168128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8" name="Shape 146"/>
          <p:cNvSpPr/>
          <p:nvPr/>
        </p:nvSpPr>
        <p:spPr>
          <a:xfrm>
            <a:off x="10392156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9" name="Shape 147"/>
          <p:cNvSpPr/>
          <p:nvPr/>
        </p:nvSpPr>
        <p:spPr>
          <a:xfrm>
            <a:off x="10616184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0" name="Shape 148"/>
          <p:cNvSpPr/>
          <p:nvPr/>
        </p:nvSpPr>
        <p:spPr>
          <a:xfrm>
            <a:off x="10840212" y="3675888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1" name="Shape 149"/>
          <p:cNvSpPr/>
          <p:nvPr/>
        </p:nvSpPr>
        <p:spPr>
          <a:xfrm>
            <a:off x="6583680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2" name="Shape 150"/>
          <p:cNvSpPr/>
          <p:nvPr/>
        </p:nvSpPr>
        <p:spPr>
          <a:xfrm>
            <a:off x="6807708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3" name="Shape 151"/>
          <p:cNvSpPr/>
          <p:nvPr/>
        </p:nvSpPr>
        <p:spPr>
          <a:xfrm>
            <a:off x="7031736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4" name="Shape 152"/>
          <p:cNvSpPr/>
          <p:nvPr/>
        </p:nvSpPr>
        <p:spPr>
          <a:xfrm>
            <a:off x="7255764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5" name="Shape 153"/>
          <p:cNvSpPr/>
          <p:nvPr/>
        </p:nvSpPr>
        <p:spPr>
          <a:xfrm>
            <a:off x="7479792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6" name="Shape 154"/>
          <p:cNvSpPr/>
          <p:nvPr/>
        </p:nvSpPr>
        <p:spPr>
          <a:xfrm>
            <a:off x="7703820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7" name="Shape 155"/>
          <p:cNvSpPr/>
          <p:nvPr/>
        </p:nvSpPr>
        <p:spPr>
          <a:xfrm>
            <a:off x="7927848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8" name="Shape 156"/>
          <p:cNvSpPr/>
          <p:nvPr/>
        </p:nvSpPr>
        <p:spPr>
          <a:xfrm>
            <a:off x="8151876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9" name="Shape 157"/>
          <p:cNvSpPr/>
          <p:nvPr/>
        </p:nvSpPr>
        <p:spPr>
          <a:xfrm>
            <a:off x="8375904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0" name="Shape 158"/>
          <p:cNvSpPr/>
          <p:nvPr/>
        </p:nvSpPr>
        <p:spPr>
          <a:xfrm>
            <a:off x="8599932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1" name="Shape 159"/>
          <p:cNvSpPr/>
          <p:nvPr/>
        </p:nvSpPr>
        <p:spPr>
          <a:xfrm>
            <a:off x="8823960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2" name="Shape 160"/>
          <p:cNvSpPr/>
          <p:nvPr/>
        </p:nvSpPr>
        <p:spPr>
          <a:xfrm>
            <a:off x="9047988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3" name="Shape 161"/>
          <p:cNvSpPr/>
          <p:nvPr/>
        </p:nvSpPr>
        <p:spPr>
          <a:xfrm>
            <a:off x="9272016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4" name="Shape 162"/>
          <p:cNvSpPr/>
          <p:nvPr/>
        </p:nvSpPr>
        <p:spPr>
          <a:xfrm>
            <a:off x="9496044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5" name="Shape 163"/>
          <p:cNvSpPr/>
          <p:nvPr/>
        </p:nvSpPr>
        <p:spPr>
          <a:xfrm>
            <a:off x="9720072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6" name="Shape 164"/>
          <p:cNvSpPr/>
          <p:nvPr/>
        </p:nvSpPr>
        <p:spPr>
          <a:xfrm>
            <a:off x="9944100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7" name="Shape 165"/>
          <p:cNvSpPr/>
          <p:nvPr/>
        </p:nvSpPr>
        <p:spPr>
          <a:xfrm>
            <a:off x="10168128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8" name="Shape 166"/>
          <p:cNvSpPr/>
          <p:nvPr/>
        </p:nvSpPr>
        <p:spPr>
          <a:xfrm>
            <a:off x="10392156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9" name="Shape 167"/>
          <p:cNvSpPr/>
          <p:nvPr/>
        </p:nvSpPr>
        <p:spPr>
          <a:xfrm>
            <a:off x="10616184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0" name="Shape 168"/>
          <p:cNvSpPr/>
          <p:nvPr/>
        </p:nvSpPr>
        <p:spPr>
          <a:xfrm>
            <a:off x="10840212" y="3899916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1" name="Shape 169"/>
          <p:cNvSpPr/>
          <p:nvPr/>
        </p:nvSpPr>
        <p:spPr>
          <a:xfrm>
            <a:off x="6583680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2" name="Shape 170"/>
          <p:cNvSpPr/>
          <p:nvPr/>
        </p:nvSpPr>
        <p:spPr>
          <a:xfrm>
            <a:off x="6807708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3" name="Shape 171"/>
          <p:cNvSpPr/>
          <p:nvPr/>
        </p:nvSpPr>
        <p:spPr>
          <a:xfrm>
            <a:off x="7031736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4" name="Shape 172"/>
          <p:cNvSpPr/>
          <p:nvPr/>
        </p:nvSpPr>
        <p:spPr>
          <a:xfrm>
            <a:off x="7255764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5" name="Shape 173"/>
          <p:cNvSpPr/>
          <p:nvPr/>
        </p:nvSpPr>
        <p:spPr>
          <a:xfrm>
            <a:off x="7479792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6" name="Shape 174"/>
          <p:cNvSpPr/>
          <p:nvPr/>
        </p:nvSpPr>
        <p:spPr>
          <a:xfrm>
            <a:off x="7703820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7" name="Shape 175"/>
          <p:cNvSpPr/>
          <p:nvPr/>
        </p:nvSpPr>
        <p:spPr>
          <a:xfrm>
            <a:off x="7927848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8" name="Shape 176"/>
          <p:cNvSpPr/>
          <p:nvPr/>
        </p:nvSpPr>
        <p:spPr>
          <a:xfrm>
            <a:off x="8151876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9" name="Shape 177"/>
          <p:cNvSpPr/>
          <p:nvPr/>
        </p:nvSpPr>
        <p:spPr>
          <a:xfrm>
            <a:off x="8375904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0" name="Shape 178"/>
          <p:cNvSpPr/>
          <p:nvPr/>
        </p:nvSpPr>
        <p:spPr>
          <a:xfrm>
            <a:off x="8599932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1" name="Shape 179"/>
          <p:cNvSpPr/>
          <p:nvPr/>
        </p:nvSpPr>
        <p:spPr>
          <a:xfrm>
            <a:off x="8823960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2" name="Shape 180"/>
          <p:cNvSpPr/>
          <p:nvPr/>
        </p:nvSpPr>
        <p:spPr>
          <a:xfrm>
            <a:off x="9047988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3" name="Shape 181"/>
          <p:cNvSpPr/>
          <p:nvPr/>
        </p:nvSpPr>
        <p:spPr>
          <a:xfrm>
            <a:off x="9272016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4" name="Shape 182"/>
          <p:cNvSpPr/>
          <p:nvPr/>
        </p:nvSpPr>
        <p:spPr>
          <a:xfrm>
            <a:off x="9496044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5" name="Shape 183"/>
          <p:cNvSpPr/>
          <p:nvPr/>
        </p:nvSpPr>
        <p:spPr>
          <a:xfrm>
            <a:off x="9720072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6" name="Shape 184"/>
          <p:cNvSpPr/>
          <p:nvPr/>
        </p:nvSpPr>
        <p:spPr>
          <a:xfrm>
            <a:off x="9944100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7" name="Shape 185"/>
          <p:cNvSpPr/>
          <p:nvPr/>
        </p:nvSpPr>
        <p:spPr>
          <a:xfrm>
            <a:off x="10168128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8" name="Shape 186"/>
          <p:cNvSpPr/>
          <p:nvPr/>
        </p:nvSpPr>
        <p:spPr>
          <a:xfrm>
            <a:off x="10392156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9" name="Shape 187"/>
          <p:cNvSpPr/>
          <p:nvPr/>
        </p:nvSpPr>
        <p:spPr>
          <a:xfrm>
            <a:off x="10616184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0" name="Shape 188"/>
          <p:cNvSpPr/>
          <p:nvPr/>
        </p:nvSpPr>
        <p:spPr>
          <a:xfrm>
            <a:off x="10840212" y="4123944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1" name="Shape 189"/>
          <p:cNvSpPr/>
          <p:nvPr/>
        </p:nvSpPr>
        <p:spPr>
          <a:xfrm>
            <a:off x="6583680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2" name="Shape 190"/>
          <p:cNvSpPr/>
          <p:nvPr/>
        </p:nvSpPr>
        <p:spPr>
          <a:xfrm>
            <a:off x="6807708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3" name="Shape 191"/>
          <p:cNvSpPr/>
          <p:nvPr/>
        </p:nvSpPr>
        <p:spPr>
          <a:xfrm>
            <a:off x="7031736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4" name="Shape 192"/>
          <p:cNvSpPr/>
          <p:nvPr/>
        </p:nvSpPr>
        <p:spPr>
          <a:xfrm>
            <a:off x="7255764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5" name="Shape 193"/>
          <p:cNvSpPr/>
          <p:nvPr/>
        </p:nvSpPr>
        <p:spPr>
          <a:xfrm>
            <a:off x="7479792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6" name="Shape 194"/>
          <p:cNvSpPr/>
          <p:nvPr/>
        </p:nvSpPr>
        <p:spPr>
          <a:xfrm>
            <a:off x="7703820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7" name="Shape 195"/>
          <p:cNvSpPr/>
          <p:nvPr/>
        </p:nvSpPr>
        <p:spPr>
          <a:xfrm>
            <a:off x="7927848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8" name="Shape 196"/>
          <p:cNvSpPr/>
          <p:nvPr/>
        </p:nvSpPr>
        <p:spPr>
          <a:xfrm>
            <a:off x="8151876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9" name="Shape 197"/>
          <p:cNvSpPr/>
          <p:nvPr/>
        </p:nvSpPr>
        <p:spPr>
          <a:xfrm>
            <a:off x="8375904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0" name="Shape 198"/>
          <p:cNvSpPr/>
          <p:nvPr/>
        </p:nvSpPr>
        <p:spPr>
          <a:xfrm>
            <a:off x="8599932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1" name="Shape 199"/>
          <p:cNvSpPr/>
          <p:nvPr/>
        </p:nvSpPr>
        <p:spPr>
          <a:xfrm>
            <a:off x="8823960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2" name="Shape 200"/>
          <p:cNvSpPr/>
          <p:nvPr/>
        </p:nvSpPr>
        <p:spPr>
          <a:xfrm>
            <a:off x="9047988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3" name="Shape 201"/>
          <p:cNvSpPr/>
          <p:nvPr/>
        </p:nvSpPr>
        <p:spPr>
          <a:xfrm>
            <a:off x="9272016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4" name="Shape 202"/>
          <p:cNvSpPr/>
          <p:nvPr/>
        </p:nvSpPr>
        <p:spPr>
          <a:xfrm>
            <a:off x="9496044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5" name="Shape 203"/>
          <p:cNvSpPr/>
          <p:nvPr/>
        </p:nvSpPr>
        <p:spPr>
          <a:xfrm>
            <a:off x="9720072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6" name="Shape 204"/>
          <p:cNvSpPr/>
          <p:nvPr/>
        </p:nvSpPr>
        <p:spPr>
          <a:xfrm>
            <a:off x="9944100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7" name="Shape 205"/>
          <p:cNvSpPr/>
          <p:nvPr/>
        </p:nvSpPr>
        <p:spPr>
          <a:xfrm>
            <a:off x="10168128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8" name="Shape 206"/>
          <p:cNvSpPr/>
          <p:nvPr/>
        </p:nvSpPr>
        <p:spPr>
          <a:xfrm>
            <a:off x="10392156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9" name="Shape 207"/>
          <p:cNvSpPr/>
          <p:nvPr/>
        </p:nvSpPr>
        <p:spPr>
          <a:xfrm>
            <a:off x="10616184" y="4347972"/>
            <a:ext cx="68580" cy="68580"/>
          </a:xfrm>
          <a:prstGeom prst="ellipse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0" name="Shape 208"/>
          <p:cNvSpPr/>
          <p:nvPr/>
        </p:nvSpPr>
        <p:spPr>
          <a:xfrm>
            <a:off x="10840212" y="4347972"/>
            <a:ext cx="68580" cy="6858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1" name="Text 209"/>
          <p:cNvSpPr/>
          <p:nvPr/>
        </p:nvSpPr>
        <p:spPr>
          <a:xfrm>
            <a:off x="6583680" y="4754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ponto é um episódio · terracota = snapshot mostrado</a:t>
            </a:r>
            <a:endParaRPr lang="en-US" sz="780" dirty="0"/>
          </a:p>
        </p:txBody>
      </p:sp>
      <p:sp>
        <p:nvSpPr>
          <p:cNvPr id="212" name="Shape 210"/>
          <p:cNvSpPr/>
          <p:nvPr/>
        </p:nvSpPr>
        <p:spPr>
          <a:xfrm>
            <a:off x="777240" y="562356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13" name="Text 211"/>
          <p:cNvSpPr/>
          <p:nvPr/>
        </p:nvSpPr>
        <p:spPr>
          <a:xfrm>
            <a:off x="777240" y="5779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Depois, a mesma tabela vai para o robô de verdade.</a:t>
            </a:r>
            <a:endParaRPr lang="en-US" sz="1900" dirty="0"/>
          </a:p>
        </p:txBody>
      </p:sp>
      <p:sp>
        <p:nvSpPr>
          <p:cNvPr id="214" name="Text 212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15" name="Text 213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C9C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RESULTADO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C9C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EPISÓDIOS · RECOMPENSA MÉDIA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800" dirty="0">
                <a:solidFill>
                  <a:srgbClr val="F4F1E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-49</a:t>
            </a:r>
            <a:endParaRPr lang="en-US" sz="11800" dirty="0"/>
          </a:p>
        </p:txBody>
      </p:sp>
      <p:sp>
        <p:nvSpPr>
          <p:cNvPr id="5" name="Text 3"/>
          <p:cNvSpPr/>
          <p:nvPr/>
        </p:nvSpPr>
        <p:spPr>
          <a:xfrm>
            <a:off x="352044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→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0" y="17830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800" dirty="0">
                <a:solidFill>
                  <a:srgbClr val="F4F1E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+559</a:t>
            </a:r>
            <a:endParaRPr lang="en-US" sz="118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C1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primeiros 20 episódios  →  últimos 20 episódios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recompensa não é um prêmio. É o sinal de que ele passa mais tempo na linha.</a:t>
            </a:r>
            <a:endParaRPr lang="en-US" sz="1700" dirty="0"/>
          </a:p>
        </p:txBody>
      </p:sp>
      <p:pic>
        <p:nvPicPr>
          <p:cNvPr id="9" name="Image 0" descr="Tendência da recompensa média ao longo do treinament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03320"/>
            <a:ext cx="4937760" cy="868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" y="589788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3A342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9C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mesmo experimento, 200 vezes. A curva completa está no slide 13.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E8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COMPORTAMENTO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70"/>
              </a:lnSpc>
              <a:buNone/>
            </a:pPr>
            <a:r>
              <a:rPr lang="en-US" sz="4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Antes: 5 passos.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1532636"/>
            <a:ext cx="10607040" cy="715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70"/>
              </a:lnSpc>
              <a:buNone/>
            </a:pPr>
            <a:r>
              <a:rPr lang="en-US" sz="46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Depois: 120 de 120.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pista, o mesmo ponto de partida. À esquerda, uma política aleatória; à direita, a política aprendida.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90779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55448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1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APRENDIZADO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54480" y="32369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fora da linha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68503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120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395728" y="3794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1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 A Q-TABLE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395728" y="40142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 a linha</a:t>
            </a:r>
            <a:endParaRPr lang="en-US" sz="1050" dirty="0"/>
          </a:p>
        </p:txBody>
      </p:sp>
      <p:pic>
        <p:nvPicPr>
          <p:cNvPr id="12" name="Image 0" descr="Faixas de 120 passos: a política aleatória fica na linha 5 passos; a política aprendida, 12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962656"/>
            <a:ext cx="7955280" cy="10332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429000" y="4133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quadrado = 1 passo · terracota = sobre a linha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77240" y="50749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77240" y="5257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política aprendida corrige o desvio antes de sair da linha. A aleatória sai em cinco passos.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APRENDIZADO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32688"/>
            <a:ext cx="10607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44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 curva não é lisa.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1499616"/>
            <a:ext cx="10607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44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O comportamento mudou.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1214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linha clara é um episódio. A linha escura é a média móvel de 10.</a:t>
            </a:r>
            <a:endParaRPr lang="en-US" sz="1300" dirty="0"/>
          </a:p>
        </p:txBody>
      </p:sp>
      <p:pic>
        <p:nvPicPr>
          <p:cNvPr id="6" name="Image 0" descr="Recompensa por episódio, com média móvel subindo de menos 49 para mais 559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0592"/>
            <a:ext cx="9464040" cy="3346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2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MELHOR EPISÓDIO  +822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60520" y="5897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2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ÚLTIMOS 20  +559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635240" y="5897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2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EPISÓDIOS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· ARQUITETURA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Ensinar no PC.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77240" y="15824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Executar no robô.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Q-table pode ser treinada no Python ou dentro do Arduino. São 24 números — cabe na memória de um microcontrolador.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1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675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SIMULADOR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episódios</a:t>
            </a:r>
            <a:endParaRPr lang="en-US" sz="9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Q-table 8×3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6052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1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60520" y="3675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PONTE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6052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115200</a:t>
            </a:r>
            <a:endParaRPr lang="en-US" sz="9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leitura → ação</a:t>
            </a:r>
            <a:endParaRPr lang="en-US" sz="9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PC no robô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4380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1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43800" y="3675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ROBÔ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4380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 / ESP32</a:t>
            </a:r>
            <a:endParaRPr lang="en-US" sz="9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Q-table na RAM</a:t>
            </a:r>
            <a:endParaRPr lang="en-US" sz="9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9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decisão local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2461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3191256"/>
            <a:ext cx="100584" cy="100584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160520" y="3191256"/>
            <a:ext cx="100584" cy="100584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43800" y="3191256"/>
            <a:ext cx="100584" cy="100584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703320" y="3246120"/>
            <a:ext cx="3657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12700">
            <a:solidFill>
              <a:srgbClr val="C24E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086600" y="3246120"/>
            <a:ext cx="3657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12700">
            <a:solidFill>
              <a:srgbClr val="C24E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77240" y="557784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7424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modo if/else fica como linha de base: repete, mas não aprende.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0" y="5742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arquiteturas · detalhes no apêndice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· O QUE FICA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Aprender no lugar,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77240" y="1582420"/>
            <a:ext cx="10607040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com poucos recursos.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robô não precisa de internet, câmera ou um computador potente. Ele guarda 24 números e decide em tempo real.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EDGE AI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Decisão local, sem nuvem.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352044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0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ADAPTAÇÃO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8912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comportamento muda com a experiência.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352044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001000" y="3657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2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01000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EDUCAÇÃO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0100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forma concreta de ensinar reforço.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715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toda inteligência precisa da nuvem.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· HONESTIDADE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O que ele ainda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607312"/>
            <a:ext cx="10607040" cy="8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40"/>
              </a:lnSpc>
              <a:buNone/>
            </a:pPr>
            <a:r>
              <a:rPr lang="en-US" sz="5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não sabe.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326880" y="12344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0" dirty="0">
                <a:solidFill>
                  <a:srgbClr val="E2D7C6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8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964692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600" dirty="0">
                <a:solidFill>
                  <a:srgbClr val="C24E2E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→ ∞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732520" y="3977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estados discretos  →  mundo contínuo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6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8 estados é pouco para curvas e cruzamentos.</a:t>
            </a:r>
            <a:endParaRPr lang="en-US" sz="13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 linha ainda pode ser perdida.</a:t>
            </a:r>
            <a:endParaRPr lang="en-US" sz="13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Simulador não é o chão de verdade.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77840" y="2468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6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PRÓXIMOS PASSOS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77840" y="2743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Mais sensores e mais resolução.</a:t>
            </a:r>
            <a:endParaRPr lang="en-US" sz="13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Câmera e estados contínuos.</a:t>
            </a:r>
            <a:endParaRPr lang="en-US" sz="13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35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Testar em pistas e pisos diferentes.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0749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5257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E69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próximo passo é sair do discreto — e continuar aprendendo.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C9C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FIM · OBRIGADO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00" dirty="0">
                <a:solidFill>
                  <a:srgbClr val="F4F1E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Ele não nasceu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777240" y="18470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00" dirty="0">
                <a:solidFill>
                  <a:srgbClr val="F4F1EA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sabendo.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777240" y="281635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Aprendeu.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777240" y="4434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4937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0" y="11430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800" dirty="0">
                <a:solidFill>
                  <a:srgbClr val="2B272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8 × 3</a:t>
            </a:r>
            <a:endParaRPr lang="en-US" sz="12800" dirty="0"/>
          </a:p>
        </p:txBody>
      </p:sp>
      <p:sp>
        <p:nvSpPr>
          <p:cNvPr id="9" name="Text 7"/>
          <p:cNvSpPr/>
          <p:nvPr/>
        </p:nvSpPr>
        <p:spPr>
          <a:xfrm>
            <a:off x="854964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8E8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NOTAS · UMA POLÍTICA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137392" y="2176272"/>
            <a:ext cx="91440" cy="91440"/>
          </a:xfrm>
          <a:prstGeom prst="ellipse">
            <a:avLst/>
          </a:prstGeom>
          <a:solidFill>
            <a:srgbClr val="C24E2E"/>
          </a:solidFill>
          <a:ln w="12700">
            <a:solidFill>
              <a:srgbClr val="C24E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77240" y="589788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3A342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6053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spc="160" dirty="0">
                <a:solidFill>
                  <a:srgbClr val="C9C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OBRIGADO.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E8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· Q-LEARNING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A conta por trás da tabela.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Q[s,a]  ←  Q[s,a]  +  α · ( r  +  γ · max Q[s′,a′]  −  Q[s,a] 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" y="301752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0,1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taxa de aprendizado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950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quanto da novidade entra na nota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301752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38912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= 0,9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desconto do futuro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3950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quanto o amanhã importa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3017520"/>
            <a:ext cx="3063240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00100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 1,0 → 0,13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0100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5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exploração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01000" y="3950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curiosidade que cai a cada episódio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Recompensa:  centro +1,0  ·  lateral −0,5  ·  perdeu −3,0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440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Q-update acontece antes da próxima escolha. A tabela é atualizada uma célula por passo.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989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12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SUTTON &amp; BARTO, 2018 · CAP. 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· ANALOGIA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Se o robô fosse um bicho.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77240" y="17190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instinto é uma tabela.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cachorro não nasce sabendo onde tem comida. Ele cheira, escolhe um caminho, ganha um petisco ou um susto — e ajusta o instinto.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robô faz o mesmo. Em vez de focinho, tem sensores. Em vez de patas, motores. Em vez de instinto, uma tabela de 24 notas.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24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robô não sonha. Ele consulta.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4920" y="19933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3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CACHORRO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49440" y="199339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3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ROBÔ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74920" y="2240280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10160">
            <a:solidFill>
              <a:srgbClr val="17151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74920" y="2359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focinho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49440" y="23591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sensores 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2706624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74920" y="2761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49440" y="27614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motores DC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3108960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74920" y="31638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instinto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9440" y="31638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Q-table 8 ×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511296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74920" y="3566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petisco / susto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49440" y="35661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recompensa (+1 / −3)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3913632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74920" y="3968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tarde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4944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episódio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4315968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7492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curiosidade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49440" y="43708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(exploração)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4718304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074920" y="47731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5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paciência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949440" y="47731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(futuro)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5120640"/>
            <a:ext cx="63093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635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777240" y="5468112"/>
            <a:ext cx="10634472" cy="658368"/>
          </a:xfrm>
          <a:prstGeom prst="rect">
            <a:avLst/>
          </a:prstGeom>
          <a:solidFill>
            <a:srgbClr val="EFE7DA"/>
          </a:solidFill>
          <a:ln w="12700">
            <a:solidFill>
              <a:srgbClr val="EFE7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60120" y="5532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kern="0" spc="13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EQUAÇÃO, TRADUZIDA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960120" y="570585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 nota  =  nota antiga  +  10% × ( petisco agora  +  90% da melhor nota futura  −  nota antiga )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· ARQUITETURAS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Quatro formas de montar.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ideia, distribuída de formas diferentes entre PC e microcontrolador.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12700">
            <a:solidFill>
              <a:srgbClr val="17151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1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33172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1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AMBIENTE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51960" y="2423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1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720840" y="2423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1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APRENDE?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1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QUE SERVE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29443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if/else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2944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físico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fixas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2944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511296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3694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sim.py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36941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36941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3694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6941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treino rápido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261104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77240" y="44439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onboard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31720" y="4443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físico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4443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Arduino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4443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443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robô autônomo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5010912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77240" y="5193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serial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5193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51960" y="5193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Arduino / ESP32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5193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5193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 no hardware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57607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12700">
            <a:solidFill>
              <a:srgbClr val="17151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77240" y="5897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E69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modo 4 valida a Q-table no hardware antes de soltar o robô autônomo.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21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171512"/>
                </a:solidFill>
                <a:latin typeface="Bahnschrift Light" pitchFamily="34" charset="0"/>
                <a:ea typeface="Bahnschrift Light" pitchFamily="34" charset="-122"/>
                <a:cs typeface="Bahnschrift Light" pitchFamily="34" charset="-120"/>
              </a:rPr>
              <a:t>O experimento em números.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6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PARÂMETROS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8346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episódios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47091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8346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passos por episódio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47091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× 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× ações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297680"/>
            <a:ext cx="47091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0,1 · γ 0,9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346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aprendizado e desconto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029200"/>
            <a:ext cx="4709160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16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C24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-49 → +559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9828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recompensa média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501091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+822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9828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melhor episódio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566160"/>
            <a:ext cx="501091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40080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→ 120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09828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passos na linha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4297680"/>
            <a:ext cx="501091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00800" y="4526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715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09828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 na Q-table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5029200"/>
            <a:ext cx="5010912" cy="914"/>
          </a:xfrm>
          <a:prstGeom prst="line">
            <a:avLst/>
          </a:prstGeom>
          <a:solidFill>
            <a:srgbClr val="F4F1EA">
              <a:alpha val="0"/>
            </a:srgbClr>
          </a:solidFill>
          <a:ln w="7620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77240" y="5532120"/>
            <a:ext cx="10634472" cy="914"/>
          </a:xfrm>
          <a:prstGeom prst="line">
            <a:avLst/>
          </a:prstGeom>
          <a:solidFill>
            <a:srgbClr val="F4F1EA">
              <a:alpha val="0"/>
            </a:srgbClr>
          </a:solidFill>
          <a:ln w="9525">
            <a:solidFill>
              <a:srgbClr val="D9D2C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77240" y="56692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6E69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Números do simulador. No robô real, atrito, ruído e bateria mudam o jogo.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7724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E69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um robô aprende · Feira de Ciências 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E69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3945</Words>
  <Application>Microsoft Office PowerPoint</Application>
  <PresentationFormat>Widescreen</PresentationFormat>
  <Paragraphs>411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8" baseType="lpstr">
      <vt:lpstr>Arial</vt:lpstr>
      <vt:lpstr>Bahnschrift</vt:lpstr>
      <vt:lpstr>Bahnschrift Light</vt:lpstr>
      <vt:lpstr>Consolas</vt:lpstr>
      <vt:lpstr>Georgia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Feira de Ciencias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um robo aprende?</dc:title>
  <dc:subject>Aprendizado por reforco em um robo seguidor de linha</dc:subject>
  <dc:creator>TCC - Robo Seguidor de Linha</dc:creator>
  <cp:lastModifiedBy>Pedro Zia</cp:lastModifiedBy>
  <cp:revision>2</cp:revision>
  <dcterms:created xsi:type="dcterms:W3CDTF">2026-10-21T23:58:54Z</dcterms:created>
  <dcterms:modified xsi:type="dcterms:W3CDTF">2026-10-23T00:36:38Z</dcterms:modified>
</cp:coreProperties>
</file>